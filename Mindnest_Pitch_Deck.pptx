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8f0f7490-6998-42ed-9589-3dfbed20da56.preview.emergentagent.com" TargetMode="Externa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8f0f7490-6998-42ed-9589-3dfbed20da56.preview.emergentagent.com" TargetMode="Externa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7B6EF5">
              <a:alpha val="15000"/>
            </a:srgbClr>
          </a:solidFill>
          <a:ln w="12700">
            <a:solidFill>
              <a:srgbClr val="7B6EF5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3DD9B3">
              <a:alpha val="12000"/>
            </a:srgbClr>
          </a:solidFill>
          <a:ln w="12700">
            <a:solidFill>
              <a:srgbClr val="3DD9B3">
                <a:alpha val="12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1887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A3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Mindnest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64008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study partner for CET exam success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3017520"/>
            <a:ext cx="2743200" cy="36576"/>
          </a:xfrm>
          <a:prstGeom prst="rect">
            <a:avLst/>
          </a:prstGeom>
          <a:solidFill>
            <a:srgbClr val="7B6EF5"/>
          </a:solidFill>
          <a:ln w="12700">
            <a:solidFill>
              <a:srgbClr val="7B6E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</a:t>
            </a:r>
            <a:pPr indent="0" marL="0">
              <a:buNone/>
            </a:pPr>
            <a:r>
              <a:rPr lang="en-US" sz="1400" b="1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NeuralX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5478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 </a:t>
            </a:r>
            <a:pPr indent="0" marL="0">
              <a:buNone/>
            </a:pPr>
            <a:r>
              <a:rPr lang="en-US" sz="1400" b="1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 — AI Symposium &amp; Hackathon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389534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 </a:t>
            </a:r>
            <a:pPr indent="0" marL="0">
              <a:buNone/>
            </a:pPr>
            <a:r>
              <a:rPr lang="en-US" sz="1400" b="1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Mindnest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solidFill>
            <a:srgbClr val="F97B72"/>
          </a:solidFill>
          <a:ln w="12700">
            <a:solidFill>
              <a:srgbClr val="F97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A3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CET Prep Is Broken — Here's Why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3474720"/>
          </a:xfrm>
          <a:prstGeom prst="rect">
            <a:avLst>
              <a:gd name="adj" fmla="val 1316"/>
            </a:avLst>
          </a:prstGeom>
          <a:solidFill>
            <a:srgbClr val="1E1B48"/>
          </a:solidFill>
          <a:ln w="6350">
            <a:solidFill>
              <a:srgbClr val="7B6E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34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657600" cy="2834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materials are fragmented — no single roadmap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real-time feedback on mistakes or weak areas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mentorship is expensive &amp; inaccessible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inconsistent prep, conceptual gaps, low confidence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3931920" cy="3474720"/>
          </a:xfrm>
          <a:prstGeom prst="rect">
            <a:avLst>
              <a:gd name="adj" fmla="val 1316"/>
            </a:avLst>
          </a:prstGeom>
          <a:solidFill>
            <a:srgbClr val="16133A"/>
          </a:solidFill>
          <a:ln w="6350">
            <a:solidFill>
              <a:srgbClr val="7B6E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234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DD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00600" y="1508760"/>
            <a:ext cx="3657600" cy="23774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CET aspirants across India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Surging demand for affordable EdTech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AI learning still largely unsolved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310896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solidFill>
            <a:srgbClr val="3DD9B3"/>
          </a:solidFill>
          <a:ln w="12700">
            <a:solidFill>
              <a:srgbClr val="3DD9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A3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We're Building For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1828800"/>
          </a:xfrm>
          <a:prstGeom prst="rect">
            <a:avLst>
              <a:gd name="adj" fmla="val 2500"/>
            </a:avLst>
          </a:prstGeom>
          <a:solidFill>
            <a:srgbClr val="1E1B48"/>
          </a:solidFill>
          <a:ln w="6350">
            <a:solidFill>
              <a:srgbClr val="7B6EF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801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280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9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students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1783080"/>
            <a:ext cx="3657600" cy="10058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11–12 (PCMB) students overwhelmed by scattered content — no clear roadmap or performance tracking.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143000"/>
            <a:ext cx="3931920" cy="1828800"/>
          </a:xfrm>
          <a:prstGeom prst="rect">
            <a:avLst>
              <a:gd name="adj" fmla="val 2500"/>
            </a:avLst>
          </a:prstGeom>
          <a:solidFill>
            <a:srgbClr val="1E1B48"/>
          </a:solidFill>
          <a:ln w="6350">
            <a:solidFill>
              <a:srgbClr val="7B6EF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801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280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9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 repeaters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800600" y="1783080"/>
            <a:ext cx="3657600" cy="10058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targeted gap-filling from a previous attempt. Current coaching is expensive and one-size-fits-all.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3154680"/>
            <a:ext cx="8138160" cy="1554480"/>
          </a:xfrm>
          <a:prstGeom prst="rect">
            <a:avLst>
              <a:gd name="adj" fmla="val 2941"/>
            </a:avLst>
          </a:prstGeom>
          <a:solidFill>
            <a:srgbClr val="16133A"/>
          </a:solidFill>
          <a:ln w="6350">
            <a:solidFill>
              <a:srgbClr val="7B6EF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1012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3310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current solutions fail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94360" y="3730752"/>
            <a:ext cx="7863840" cy="777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are siloed, not personalized, and often unaffordable. No single platform integrates learning, practice, and AI mentorship seamlessly.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solidFill>
            <a:srgbClr val="7B6EF5"/>
          </a:solidFill>
          <a:ln w="12700">
            <a:solidFill>
              <a:srgbClr val="7B6E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A3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Introducing Mindnest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651760" cy="1280160"/>
          </a:xfrm>
          <a:prstGeom prst="rect">
            <a:avLst>
              <a:gd name="adj" fmla="val 3571"/>
            </a:avLst>
          </a:prstGeom>
          <a:solidFill>
            <a:srgbClr val="1E1B48"/>
          </a:solidFill>
          <a:ln w="6350">
            <a:solidFill>
              <a:srgbClr val="7B6EF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2588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3075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9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7373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Chapter-wise concept learning by subject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143000"/>
            <a:ext cx="2651760" cy="1280160"/>
          </a:xfrm>
          <a:prstGeom prst="rect">
            <a:avLst>
              <a:gd name="adj" fmla="val 3571"/>
            </a:avLst>
          </a:prstGeom>
          <a:solidFill>
            <a:srgbClr val="1E1B48"/>
          </a:solidFill>
          <a:ln w="6350">
            <a:solidFill>
              <a:srgbClr val="7B6EF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32588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58768" y="13075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9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429000" y="17373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practice with instant explanations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26480" y="1143000"/>
            <a:ext cx="2651760" cy="1280160"/>
          </a:xfrm>
          <a:prstGeom prst="rect">
            <a:avLst>
              <a:gd name="adj" fmla="val 3571"/>
            </a:avLst>
          </a:prstGeom>
          <a:solidFill>
            <a:srgbClr val="1E1B48"/>
          </a:solidFill>
          <a:ln w="6350">
            <a:solidFill>
              <a:srgbClr val="7B6EF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93408" y="13075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9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263640" y="17373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revision for high-retention recall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57200" y="2606040"/>
            <a:ext cx="2651760" cy="1280160"/>
          </a:xfrm>
          <a:prstGeom prst="rect">
            <a:avLst>
              <a:gd name="adj" fmla="val 3571"/>
            </a:avLst>
          </a:prstGeom>
          <a:solidFill>
            <a:srgbClr val="1E1B48"/>
          </a:solidFill>
          <a:ln w="6350">
            <a:solidFill>
              <a:srgbClr val="7B6EF5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788920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24128" y="2770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9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planner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94360" y="32004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Day-by-day schedule tied to exam timelines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3291840" y="2606040"/>
            <a:ext cx="2651760" cy="1280160"/>
          </a:xfrm>
          <a:prstGeom prst="rect">
            <a:avLst>
              <a:gd name="adj" fmla="val 3571"/>
            </a:avLst>
          </a:prstGeom>
          <a:solidFill>
            <a:srgbClr val="1E1B48"/>
          </a:solidFill>
          <a:ln w="6350">
            <a:solidFill>
              <a:srgbClr val="7B6EF5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2788920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58768" y="2770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9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3429000" y="32004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doubt resolution, 24/7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126480" y="2606040"/>
            <a:ext cx="2651760" cy="1280160"/>
          </a:xfrm>
          <a:prstGeom prst="rect">
            <a:avLst>
              <a:gd name="adj" fmla="val 3571"/>
            </a:avLst>
          </a:prstGeom>
          <a:solidFill>
            <a:srgbClr val="1E1B48"/>
          </a:solidFill>
          <a:ln w="6350">
            <a:solidFill>
              <a:srgbClr val="7B6EF5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2788920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693408" y="2770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9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series + analytics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6263640" y="32004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mocks with deep performance breakdowns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457200" y="4069080"/>
            <a:ext cx="8138160" cy="640080"/>
          </a:xfrm>
          <a:prstGeom prst="rect">
            <a:avLst/>
          </a:prstGeom>
          <a:solidFill>
            <a:srgbClr val="7B6EF5"/>
          </a:solidFill>
          <a:ln w="12700">
            <a:solidFill>
              <a:srgbClr val="7B6EF5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548640" y="406908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 — Learning + Practice + AI Mentorship, unified. At a fraction of coaching costs.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solidFill>
            <a:srgbClr val="3DD9B3"/>
          </a:solidFill>
          <a:ln w="12700">
            <a:solidFill>
              <a:srgbClr val="3DD9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A3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Continuous Learning Loop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325880" cy="1325880"/>
          </a:xfrm>
          <a:prstGeom prst="ellipse">
            <a:avLst/>
          </a:prstGeom>
          <a:solidFill>
            <a:srgbClr val="7B6EF5"/>
          </a:solidFill>
          <a:ln w="19050">
            <a:solidFill>
              <a:srgbClr val="A99F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0" y="1801368"/>
            <a:ext cx="822960" cy="54864"/>
          </a:xfrm>
          <a:prstGeom prst="rect">
            <a:avLst/>
          </a:prstGeom>
          <a:solidFill>
            <a:srgbClr val="8884AA"/>
          </a:solidFill>
          <a:ln w="12700">
            <a:solidFill>
              <a:srgbClr val="8884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1773936"/>
            <a:ext cx="54864" cy="109728"/>
          </a:xfrm>
          <a:prstGeom prst="rect">
            <a:avLst/>
          </a:prstGeom>
          <a:solidFill>
            <a:srgbClr val="8884AA"/>
          </a:solidFill>
          <a:ln w="12700">
            <a:solidFill>
              <a:srgbClr val="8884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0280" y="1188720"/>
            <a:ext cx="1325880" cy="1325880"/>
          </a:xfrm>
          <a:prstGeom prst="ellipse">
            <a:avLst/>
          </a:prstGeom>
          <a:solidFill>
            <a:srgbClr val="7B6EF5"/>
          </a:solidFill>
          <a:ln w="19050">
            <a:solidFill>
              <a:srgbClr val="A99F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118872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11880" y="1801368"/>
            <a:ext cx="822960" cy="54864"/>
          </a:xfrm>
          <a:prstGeom prst="rect">
            <a:avLst/>
          </a:prstGeom>
          <a:solidFill>
            <a:srgbClr val="8884AA"/>
          </a:solidFill>
          <a:ln w="12700">
            <a:solidFill>
              <a:srgbClr val="8884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773936"/>
            <a:ext cx="54864" cy="109728"/>
          </a:xfrm>
          <a:prstGeom prst="rect">
            <a:avLst/>
          </a:prstGeom>
          <a:solidFill>
            <a:srgbClr val="8884AA"/>
          </a:solidFill>
          <a:ln w="12700">
            <a:solidFill>
              <a:srgbClr val="8884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1188720"/>
            <a:ext cx="1325880" cy="1325880"/>
          </a:xfrm>
          <a:prstGeom prst="ellipse">
            <a:avLst/>
          </a:prstGeom>
          <a:solidFill>
            <a:srgbClr val="7B6EF5"/>
          </a:solidFill>
          <a:ln w="19050">
            <a:solidFill>
              <a:srgbClr val="A99F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118872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94960" y="1801368"/>
            <a:ext cx="822960" cy="54864"/>
          </a:xfrm>
          <a:prstGeom prst="rect">
            <a:avLst/>
          </a:prstGeom>
          <a:solidFill>
            <a:srgbClr val="8884AA"/>
          </a:solidFill>
          <a:ln w="12700">
            <a:solidFill>
              <a:srgbClr val="8884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773936"/>
            <a:ext cx="54864" cy="109728"/>
          </a:xfrm>
          <a:prstGeom prst="rect">
            <a:avLst/>
          </a:prstGeom>
          <a:solidFill>
            <a:srgbClr val="8884AA"/>
          </a:solidFill>
          <a:ln w="12700">
            <a:solidFill>
              <a:srgbClr val="8884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06440" y="1188720"/>
            <a:ext cx="1325880" cy="1325880"/>
          </a:xfrm>
          <a:prstGeom prst="ellipse">
            <a:avLst/>
          </a:prstGeom>
          <a:solidFill>
            <a:srgbClr val="7B6EF5"/>
          </a:solidFill>
          <a:ln w="19050">
            <a:solidFill>
              <a:srgbClr val="A99F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118872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78040" y="1801368"/>
            <a:ext cx="822960" cy="54864"/>
          </a:xfrm>
          <a:prstGeom prst="rect">
            <a:avLst/>
          </a:prstGeom>
          <a:solidFill>
            <a:srgbClr val="8884AA"/>
          </a:solidFill>
          <a:ln w="12700">
            <a:solidFill>
              <a:srgbClr val="8884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09560" y="1773936"/>
            <a:ext cx="54864" cy="109728"/>
          </a:xfrm>
          <a:prstGeom prst="rect">
            <a:avLst/>
          </a:prstGeom>
          <a:solidFill>
            <a:srgbClr val="8884AA"/>
          </a:solidFill>
          <a:ln w="12700">
            <a:solidFill>
              <a:srgbClr val="8884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1188720"/>
            <a:ext cx="1325880" cy="1325880"/>
          </a:xfrm>
          <a:prstGeom prst="ellipse">
            <a:avLst/>
          </a:prstGeom>
          <a:solidFill>
            <a:srgbClr val="7B6EF5"/>
          </a:solidFill>
          <a:ln w="19050">
            <a:solidFill>
              <a:srgbClr val="A99F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0" y="118872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26974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DD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Each session feeds AI — turning effort into measurable improvement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246120"/>
            <a:ext cx="8138160" cy="1417320"/>
          </a:xfrm>
          <a:prstGeom prst="rect">
            <a:avLst>
              <a:gd name="adj" fmla="val 3226"/>
            </a:avLst>
          </a:prstGeom>
          <a:solidFill>
            <a:srgbClr val="1A183D"/>
          </a:solidFill>
          <a:ln w="6350">
            <a:solidFill>
              <a:srgbClr val="7B6E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246120"/>
            <a:ext cx="109728" cy="1417320"/>
          </a:xfrm>
          <a:prstGeom prst="rect">
            <a:avLst/>
          </a:prstGeom>
          <a:solidFill>
            <a:srgbClr val="7B6EF5"/>
          </a:solidFill>
          <a:ln w="12700">
            <a:solidFill>
              <a:srgbClr val="7B6E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B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" y="3703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MindNest — AI-Powered CET Exam Preparation</a:t>
            </a:r>
            <a:endParaRPr lang="en-US" sz="1400" dirty="0"/>
          </a:p>
        </p:txBody>
      </p:sp>
      <p:sp>
        <p:nvSpPr>
          <p:cNvPr id="28" name="Text 26">
            <a:hlinkClick r:id="rId1" tooltip=""/>
          </p:cNvPr>
          <p:cNvSpPr/>
          <p:nvPr/>
        </p:nvSpPr>
        <p:spPr>
          <a:xfrm>
            <a:off x="685800" y="40507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A99FF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8f0f7490-6998-42ed-9589-3dfbed20da56.preview.emergentagent.com</a:t>
            </a:r>
            <a:endParaRPr lang="en-US" sz="12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342900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solidFill>
            <a:srgbClr val="7B6EF5"/>
          </a:solidFill>
          <a:ln w="12700">
            <a:solidFill>
              <a:srgbClr val="7B6E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A3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Engine Behind Mindnest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474720" cy="3474720"/>
          </a:xfrm>
          <a:prstGeom prst="ellipse">
            <a:avLst/>
          </a:prstGeom>
          <a:solidFill>
            <a:srgbClr val="7B6EF5">
              <a:alpha val="18000"/>
            </a:srgbClr>
          </a:solidFill>
          <a:ln w="12700">
            <a:solidFill>
              <a:srgbClr val="7B6EF5">
                <a:alpha val="18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280160"/>
            <a:ext cx="201168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3474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99F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AI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A99F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023360" y="1143000"/>
            <a:ext cx="4663440" cy="914400"/>
          </a:xfrm>
          <a:prstGeom prst="rect">
            <a:avLst>
              <a:gd name="adj" fmla="val 5000"/>
            </a:avLst>
          </a:prstGeom>
          <a:solidFill>
            <a:srgbClr val="1E1B48"/>
          </a:solidFill>
          <a:ln w="6350">
            <a:solidFill>
              <a:srgbClr val="7B6EF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8988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09160" y="1234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9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709160" y="16002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doubt resolution in natural language, 24/7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023360" y="2221992"/>
            <a:ext cx="4663440" cy="914400"/>
          </a:xfrm>
          <a:prstGeom prst="rect">
            <a:avLst>
              <a:gd name="adj" fmla="val 5000"/>
            </a:avLst>
          </a:prstGeom>
          <a:solidFill>
            <a:srgbClr val="1E1B48"/>
          </a:solidFill>
          <a:ln w="6350">
            <a:solidFill>
              <a:srgbClr val="7B6EF5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4688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09160" y="2313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9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709160" y="26791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Pinpoints weak topics across all PCMB subjects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023360" y="3300984"/>
            <a:ext cx="4663440" cy="914400"/>
          </a:xfrm>
          <a:prstGeom prst="rect">
            <a:avLst>
              <a:gd name="adj" fmla="val 5000"/>
            </a:avLst>
          </a:prstGeom>
          <a:solidFill>
            <a:srgbClr val="1E1B48"/>
          </a:solidFill>
          <a:ln w="6350">
            <a:solidFill>
              <a:srgbClr val="7B6EF5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54787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709160" y="33924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9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709160" y="375818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next best action based on student behavior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023360" y="440740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Personal mentorship at scale — 24/7, zero coaching cost.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solidFill>
            <a:srgbClr val="3DD9B3"/>
          </a:solidFill>
          <a:ln w="12700">
            <a:solidFill>
              <a:srgbClr val="3DD9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A3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Architecture — Built to Scale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658368"/>
          </a:xfrm>
          <a:prstGeom prst="rect">
            <a:avLst>
              <a:gd name="adj" fmla="val 6944"/>
            </a:avLst>
          </a:prstGeom>
          <a:solidFill>
            <a:srgbClr val="1E1B48"/>
          </a:solidFill>
          <a:ln w="6350">
            <a:solidFill>
              <a:srgbClr val="7B6EF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2529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20700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9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606040" y="1243584"/>
            <a:ext cx="18288" cy="347472"/>
          </a:xfrm>
          <a:prstGeom prst="rect">
            <a:avLst/>
          </a:prstGeom>
          <a:solidFill>
            <a:srgbClr val="8884AA"/>
          </a:solidFill>
          <a:ln w="12700">
            <a:solidFill>
              <a:srgbClr val="8884A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0" y="120700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ReactJS / HTML / CSS — responsive on any device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847088"/>
            <a:ext cx="8229600" cy="658368"/>
          </a:xfrm>
          <a:prstGeom prst="rect">
            <a:avLst>
              <a:gd name="adj" fmla="val 6944"/>
            </a:avLst>
          </a:prstGeom>
          <a:solidFill>
            <a:srgbClr val="16133A"/>
          </a:solidFill>
          <a:ln w="6350">
            <a:solidFill>
              <a:srgbClr val="7B6EF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75104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195681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9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606040" y="1993392"/>
            <a:ext cx="18288" cy="347472"/>
          </a:xfrm>
          <a:prstGeom prst="rect">
            <a:avLst/>
          </a:prstGeom>
          <a:solidFill>
            <a:srgbClr val="8884AA"/>
          </a:solidFill>
          <a:ln w="12700">
            <a:solidFill>
              <a:srgbClr val="8884A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743200" y="1956816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 or Django — high-performance APIs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2596896"/>
            <a:ext cx="8229600" cy="658368"/>
          </a:xfrm>
          <a:prstGeom prst="rect">
            <a:avLst>
              <a:gd name="adj" fmla="val 6944"/>
            </a:avLst>
          </a:prstGeom>
          <a:solidFill>
            <a:srgbClr val="1E1B48"/>
          </a:solidFill>
          <a:ln w="6350">
            <a:solidFill>
              <a:srgbClr val="7B6EF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24912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270662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9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2606040" y="2743200"/>
            <a:ext cx="18288" cy="347472"/>
          </a:xfrm>
          <a:prstGeom prst="rect">
            <a:avLst/>
          </a:prstGeom>
          <a:solidFill>
            <a:srgbClr val="8884AA"/>
          </a:solidFill>
          <a:ln w="12700">
            <a:solidFill>
              <a:srgbClr val="8884AA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2743200" y="270662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— LLM-powered chatbot &amp; recommendations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57200" y="3346704"/>
            <a:ext cx="8229600" cy="658368"/>
          </a:xfrm>
          <a:prstGeom prst="rect">
            <a:avLst>
              <a:gd name="adj" fmla="val 6944"/>
            </a:avLst>
          </a:prstGeom>
          <a:solidFill>
            <a:srgbClr val="16133A"/>
          </a:solidFill>
          <a:ln w="6350">
            <a:solidFill>
              <a:srgbClr val="7B6EF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74720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34564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9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2606040" y="3493008"/>
            <a:ext cx="18288" cy="347472"/>
          </a:xfrm>
          <a:prstGeom prst="rect">
            <a:avLst/>
          </a:prstGeom>
          <a:solidFill>
            <a:srgbClr val="8884AA"/>
          </a:solidFill>
          <a:ln w="12700">
            <a:solidFill>
              <a:srgbClr val="8884AA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2743200" y="345643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(structured) + MongoDB (flexible content)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457200" y="4096512"/>
            <a:ext cx="8229600" cy="658368"/>
          </a:xfrm>
          <a:prstGeom prst="rect">
            <a:avLst>
              <a:gd name="adj" fmla="val 6944"/>
            </a:avLst>
          </a:prstGeom>
          <a:solidFill>
            <a:srgbClr val="1E1B48"/>
          </a:solidFill>
          <a:ln w="6350">
            <a:solidFill>
              <a:srgbClr val="7B6EF5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224528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8872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9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2606040" y="4242816"/>
            <a:ext cx="18288" cy="347472"/>
          </a:xfrm>
          <a:prstGeom prst="rect">
            <a:avLst/>
          </a:prstGeom>
          <a:solidFill>
            <a:srgbClr val="8884AA"/>
          </a:solidFill>
          <a:ln w="12700">
            <a:solidFill>
              <a:srgbClr val="8884A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2743200" y="420624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/ cloud — rapid deploy with CI/CD integration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solidFill>
            <a:srgbClr val="F5C86A"/>
          </a:solidFill>
          <a:ln w="12700">
            <a:solidFill>
              <a:srgbClr val="F5C8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A3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Gamification — Making Consistency a Habit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920240" cy="1508760"/>
          </a:xfrm>
          <a:prstGeom prst="rect">
            <a:avLst>
              <a:gd name="adj" fmla="val 3030"/>
            </a:avLst>
          </a:prstGeom>
          <a:solidFill>
            <a:srgbClr val="1E1B48"/>
          </a:solidFill>
          <a:ln w="6350">
            <a:solidFill>
              <a:srgbClr val="7B6EF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1325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8562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23500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51760" y="1234440"/>
            <a:ext cx="1920240" cy="1508760"/>
          </a:xfrm>
          <a:prstGeom prst="rect">
            <a:avLst>
              <a:gd name="adj" fmla="val 3030"/>
            </a:avLst>
          </a:prstGeom>
          <a:solidFill>
            <a:srgbClr val="1E1B48"/>
          </a:solidFill>
          <a:ln w="6350">
            <a:solidFill>
              <a:srgbClr val="7B6EF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3258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43200" y="18562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+25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2743200" y="23500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test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846320" y="1234440"/>
            <a:ext cx="1920240" cy="1508760"/>
          </a:xfrm>
          <a:prstGeom prst="rect">
            <a:avLst>
              <a:gd name="adj" fmla="val 3030"/>
            </a:avLst>
          </a:prstGeom>
          <a:solidFill>
            <a:srgbClr val="1E1B48"/>
          </a:solidFill>
          <a:ln w="6350">
            <a:solidFill>
              <a:srgbClr val="7B6EF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52" y="13258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37760" y="18562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+5/day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4937760" y="23500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040880" y="1234440"/>
            <a:ext cx="1920240" cy="1508760"/>
          </a:xfrm>
          <a:prstGeom prst="rect">
            <a:avLst>
              <a:gd name="adj" fmla="val 3030"/>
            </a:avLst>
          </a:prstGeom>
          <a:solidFill>
            <a:srgbClr val="1E1B48"/>
          </a:solidFill>
          <a:ln w="6350">
            <a:solidFill>
              <a:srgbClr val="7B6EF5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32588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32320" y="18562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Bonus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7132320" y="23500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57200" y="2971800"/>
            <a:ext cx="3931920" cy="1828800"/>
          </a:xfrm>
          <a:prstGeom prst="rect">
            <a:avLst>
              <a:gd name="adj" fmla="val 2500"/>
            </a:avLst>
          </a:prstGeom>
          <a:solidFill>
            <a:srgbClr val="16133A"/>
          </a:solidFill>
          <a:ln w="6350">
            <a:solidFill>
              <a:srgbClr val="7B6EF5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58368" y="3063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UNLOCK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48640" y="3337560"/>
            <a:ext cx="3749040" cy="1280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premium quizzes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sessions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flashcard decks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663440" y="2971800"/>
            <a:ext cx="3931920" cy="1828800"/>
          </a:xfrm>
          <a:prstGeom prst="rect">
            <a:avLst>
              <a:gd name="adj" fmla="val 2500"/>
            </a:avLst>
          </a:prstGeom>
          <a:solidFill>
            <a:srgbClr val="1E1B48"/>
          </a:solidFill>
          <a:ln w="6350">
            <a:solidFill>
              <a:srgbClr val="7B6EF5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864608" y="3063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DD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754880" y="3337560"/>
            <a:ext cx="3749040" cy="1280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daily engagement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consistent study habits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premium upgrades naturally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solidFill>
            <a:srgbClr val="3DD9B3"/>
          </a:solidFill>
          <a:ln w="12700">
            <a:solidFill>
              <a:srgbClr val="3DD9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A3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Model, Impact &amp; MVP Scope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06040" cy="1188720"/>
          </a:xfrm>
          <a:prstGeom prst="rect">
            <a:avLst>
              <a:gd name="adj" fmla="val 3846"/>
            </a:avLst>
          </a:prstGeom>
          <a:solidFill>
            <a:srgbClr val="1E1B48"/>
          </a:solidFill>
          <a:ln w="6350">
            <a:solidFill>
              <a:srgbClr val="7B6E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704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9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core access drives adoption at scale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55848" y="1097280"/>
            <a:ext cx="2606040" cy="1188720"/>
          </a:xfrm>
          <a:prstGeom prst="rect">
            <a:avLst>
              <a:gd name="adj" fmla="val 3846"/>
            </a:avLst>
          </a:prstGeom>
          <a:solidFill>
            <a:srgbClr val="1E1B48"/>
          </a:solidFill>
          <a:ln w="6350">
            <a:solidFill>
              <a:srgbClr val="7B6E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11704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9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93008" y="1600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plan unlocks full AI + analytics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54496" y="1097280"/>
            <a:ext cx="2606040" cy="1188720"/>
          </a:xfrm>
          <a:prstGeom prst="rect">
            <a:avLst>
              <a:gd name="adj" fmla="val 3846"/>
            </a:avLst>
          </a:prstGeom>
          <a:solidFill>
            <a:srgbClr val="1E1B48"/>
          </a:solidFill>
          <a:ln w="6350">
            <a:solidFill>
              <a:srgbClr val="7B6E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91656" y="11704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9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&amp; affiliate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91656" y="1600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Non-intrusive ads + EdTech partner revenue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3931920" cy="2103120"/>
          </a:xfrm>
          <a:prstGeom prst="rect">
            <a:avLst>
              <a:gd name="adj" fmla="val 2174"/>
            </a:avLst>
          </a:prstGeom>
          <a:solidFill>
            <a:srgbClr val="16133A"/>
          </a:solidFill>
          <a:ln w="6350">
            <a:solidFill>
              <a:srgbClr val="7B6E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606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DD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880360"/>
            <a:ext cx="3749040" cy="15087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Measurably improves student performance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costly coaching dependency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Scales: CET → NEET → JEE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2514600"/>
            <a:ext cx="3931920" cy="2103120"/>
          </a:xfrm>
          <a:prstGeom prst="rect">
            <a:avLst>
              <a:gd name="adj" fmla="val 2174"/>
            </a:avLst>
          </a:prstGeom>
          <a:solidFill>
            <a:srgbClr val="1E1B48"/>
          </a:solidFill>
          <a:ln w="6350">
            <a:solidFill>
              <a:srgbClr val="7B6E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2606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B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2186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Quizzes, Flashcards, Study Planner — core learning loop fully functional.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4041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Multilingual, Community, Advanced AI personalization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solidFill>
            <a:srgbClr val="F97B72"/>
          </a:solidFill>
          <a:ln w="12700">
            <a:solidFill>
              <a:srgbClr val="F97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A3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Vision — India's Smartest AI Learning Ecosystem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Mindnest starts with CET — but every aspirant in India deserves a smart, affordable path to success.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06040" cy="109728"/>
          </a:xfrm>
          <a:prstGeom prst="rect">
            <a:avLst/>
          </a:prstGeom>
          <a:solidFill>
            <a:srgbClr val="7B6EF5"/>
          </a:solidFill>
          <a:ln w="12700">
            <a:solidFill>
              <a:srgbClr val="7B6E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92808"/>
            <a:ext cx="2606040" cy="2286000"/>
          </a:xfrm>
          <a:prstGeom prst="rect">
            <a:avLst>
              <a:gd name="adj" fmla="val 2000"/>
            </a:avLst>
          </a:prstGeom>
          <a:solidFill>
            <a:srgbClr val="1E1B48"/>
          </a:solidFill>
          <a:ln w="6350">
            <a:solidFill>
              <a:srgbClr val="7B6E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933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6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Mindnest MVP — core modules + gamification live for CET aspirants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55848" y="1783080"/>
            <a:ext cx="2606040" cy="109728"/>
          </a:xfrm>
          <a:prstGeom prst="rect">
            <a:avLst/>
          </a:prstGeom>
          <a:solidFill>
            <a:srgbClr val="3DD9B3"/>
          </a:solidFill>
          <a:ln w="12700">
            <a:solidFill>
              <a:srgbClr val="3DD9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55848" y="1892808"/>
            <a:ext cx="2606040" cy="2286000"/>
          </a:xfrm>
          <a:prstGeom prst="rect">
            <a:avLst>
              <a:gd name="adj" fmla="val 2000"/>
            </a:avLst>
          </a:prstGeom>
          <a:solidFill>
            <a:srgbClr val="1E1B48"/>
          </a:solidFill>
          <a:ln w="6350">
            <a:solidFill>
              <a:srgbClr val="7B6E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19933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D9B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08" y="242316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AI personalization, community features, multilingual support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54496" y="1783080"/>
            <a:ext cx="2606040" cy="109728"/>
          </a:xfrm>
          <a:prstGeom prst="rect">
            <a:avLst/>
          </a:prstGeom>
          <a:solidFill>
            <a:srgbClr val="F97B72"/>
          </a:solidFill>
          <a:ln w="12700">
            <a:solidFill>
              <a:srgbClr val="F97B7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4496" y="1892808"/>
            <a:ext cx="2606040" cy="2286000"/>
          </a:xfrm>
          <a:prstGeom prst="rect">
            <a:avLst>
              <a:gd name="adj" fmla="val 2000"/>
            </a:avLst>
          </a:prstGeom>
          <a:solidFill>
            <a:srgbClr val="1E1B48"/>
          </a:solidFill>
          <a:ln w="6350">
            <a:solidFill>
              <a:srgbClr val="7B6E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1656" y="19933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B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91656" y="242316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NEET &amp; JEE — become India's leading AI exam prep platform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315968"/>
            <a:ext cx="8138160" cy="548640"/>
          </a:xfrm>
          <a:prstGeom prst="rect">
            <a:avLst/>
          </a:prstGeom>
          <a:solidFill>
            <a:srgbClr val="7B6EF5">
              <a:alpha val="20000"/>
            </a:srgbClr>
          </a:solidFill>
          <a:ln w="12700">
            <a:solidFill>
              <a:srgbClr val="7B6EF5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3159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Transforming exam preparation with AI-driven personalization.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solidFill>
            <a:srgbClr val="F5A3C7"/>
          </a:solidFill>
          <a:ln w="12700">
            <a:solidFill>
              <a:srgbClr val="F5A3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A3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NeuralX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651760" cy="1417320"/>
          </a:xfrm>
          <a:prstGeom prst="rect">
            <a:avLst>
              <a:gd name="adj" fmla="val 3226"/>
            </a:avLst>
          </a:prstGeom>
          <a:solidFill>
            <a:srgbClr val="1E1B48"/>
          </a:solidFill>
          <a:ln w="6350">
            <a:solidFill>
              <a:srgbClr val="7B6E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463040"/>
            <a:ext cx="731520" cy="731520"/>
          </a:xfrm>
          <a:prstGeom prst="ellipse">
            <a:avLst/>
          </a:prstGeom>
          <a:solidFill>
            <a:srgbClr val="7B6EF5">
              <a:alpha val="25000"/>
            </a:srgbClr>
          </a:solidFill>
          <a:ln w="12700">
            <a:solidFill>
              <a:srgbClr val="7B6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417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Komal Parulekar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63040" y="1920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&amp; Team Lead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143000"/>
            <a:ext cx="2651760" cy="1417320"/>
          </a:xfrm>
          <a:prstGeom prst="rect">
            <a:avLst>
              <a:gd name="adj" fmla="val 3226"/>
            </a:avLst>
          </a:prstGeom>
          <a:solidFill>
            <a:srgbClr val="1E1B48"/>
          </a:solidFill>
          <a:ln w="6350">
            <a:solidFill>
              <a:srgbClr val="7B6E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1463040"/>
            <a:ext cx="731520" cy="731520"/>
          </a:xfrm>
          <a:prstGeom prst="ellipse">
            <a:avLst/>
          </a:prstGeom>
          <a:solidFill>
            <a:srgbClr val="3DD9B3">
              <a:alpha val="25000"/>
            </a:srgbClr>
          </a:solidFill>
          <a:ln w="12700">
            <a:solidFill>
              <a:srgbClr val="3DD9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0" y="1417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Nathaly Faria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0" y="1920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Lead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143000"/>
            <a:ext cx="2651760" cy="1417320"/>
          </a:xfrm>
          <a:prstGeom prst="rect">
            <a:avLst>
              <a:gd name="adj" fmla="val 3226"/>
            </a:avLst>
          </a:prstGeom>
          <a:solidFill>
            <a:srgbClr val="1E1B48"/>
          </a:solidFill>
          <a:ln w="6350">
            <a:solidFill>
              <a:srgbClr val="7B6E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91072" y="1463040"/>
            <a:ext cx="731520" cy="731520"/>
          </a:xfrm>
          <a:prstGeom prst="ellipse">
            <a:avLst/>
          </a:prstGeom>
          <a:solidFill>
            <a:srgbClr val="F97B72">
              <a:alpha val="25000"/>
            </a:srgbClr>
          </a:solidFill>
          <a:ln w="12700">
            <a:solidFill>
              <a:srgbClr val="F97B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0" y="1417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Aashlesha Chaudhari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0" y="1920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788920"/>
            <a:ext cx="2651760" cy="1417320"/>
          </a:xfrm>
          <a:prstGeom prst="rect">
            <a:avLst>
              <a:gd name="adj" fmla="val 3226"/>
            </a:avLst>
          </a:prstGeom>
          <a:solidFill>
            <a:srgbClr val="1E1B48"/>
          </a:solidFill>
          <a:ln w="6350">
            <a:solidFill>
              <a:srgbClr val="7B6E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3108960"/>
            <a:ext cx="731520" cy="731520"/>
          </a:xfrm>
          <a:prstGeom prst="ellipse">
            <a:avLst/>
          </a:prstGeom>
          <a:solidFill>
            <a:srgbClr val="3DD9B3">
              <a:alpha val="25000"/>
            </a:srgbClr>
          </a:solidFill>
          <a:ln w="12700">
            <a:solidFill>
              <a:srgbClr val="3DD9B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108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63040" y="30632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Rukkaya Peerjade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63040" y="35661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SPOC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2788920"/>
            <a:ext cx="2651760" cy="1417320"/>
          </a:xfrm>
          <a:prstGeom prst="rect">
            <a:avLst>
              <a:gd name="adj" fmla="val 3226"/>
            </a:avLst>
          </a:prstGeom>
          <a:solidFill>
            <a:srgbClr val="1E1B48"/>
          </a:solidFill>
          <a:ln w="6350">
            <a:solidFill>
              <a:srgbClr val="7B6E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56432" y="3108960"/>
            <a:ext cx="731520" cy="731520"/>
          </a:xfrm>
          <a:prstGeom prst="ellipse">
            <a:avLst/>
          </a:prstGeom>
          <a:solidFill>
            <a:srgbClr val="F5C86A">
              <a:alpha val="25000"/>
            </a:srgbClr>
          </a:solidFill>
          <a:ln w="12700">
            <a:solidFill>
              <a:srgbClr val="F5C8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56432" y="3108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97680" y="30632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Alfiya Khan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97680" y="35661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2788920"/>
            <a:ext cx="2651760" cy="1417320"/>
          </a:xfrm>
          <a:prstGeom prst="rect">
            <a:avLst>
              <a:gd name="adj" fmla="val 3226"/>
            </a:avLst>
          </a:prstGeom>
          <a:solidFill>
            <a:srgbClr val="1E1B48"/>
          </a:solidFill>
          <a:ln w="6350">
            <a:solidFill>
              <a:srgbClr val="7B6E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91072" y="3108960"/>
            <a:ext cx="731520" cy="731520"/>
          </a:xfrm>
          <a:prstGeom prst="ellipse">
            <a:avLst/>
          </a:prstGeom>
          <a:solidFill>
            <a:srgbClr val="7B6EF5">
              <a:alpha val="25000"/>
            </a:srgbClr>
          </a:solidFill>
          <a:ln w="12700">
            <a:solidFill>
              <a:srgbClr val="7B6E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91072" y="3108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32320" y="30632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Hasti Chheda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132320" y="35661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7B6EF5">
              <a:alpha val="12000"/>
            </a:srgbClr>
          </a:solidFill>
          <a:ln w="12700">
            <a:solidFill>
              <a:srgbClr val="7B6EF5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3DD9B3">
              <a:alpha val="12000"/>
            </a:srgbClr>
          </a:solidFill>
          <a:ln w="12700">
            <a:solidFill>
              <a:srgbClr val="3DD9B3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F5A3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8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NeuralX  |  Mindnest  |  AI Symposium &amp; Hackathon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73152" cy="914400"/>
          </a:xfrm>
          <a:prstGeom prst="rect">
            <a:avLst/>
          </a:prstGeom>
          <a:solidFill>
            <a:srgbClr val="7B6EF5"/>
          </a:solidFill>
          <a:ln w="12700">
            <a:solidFill>
              <a:srgbClr val="7B6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2186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960120" y="3611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A99FF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8f0f7490-6998-42ed-9589-3dfbed20da56.preview.emergentagent.com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10896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Mindnest – AI-Powered CET Prep</dc:title>
  <dc:subject>PptxGenJS Presentation</dc:subject>
  <dc:creator>PptxGenJS</dc:creator>
  <cp:lastModifiedBy>PptxGenJS</cp:lastModifiedBy>
  <cp:revision>1</cp:revision>
  <dcterms:created xsi:type="dcterms:W3CDTF">2026-04-25T11:38:45Z</dcterms:created>
  <dcterms:modified xsi:type="dcterms:W3CDTF">2026-04-25T11:38:45Z</dcterms:modified>
</cp:coreProperties>
</file>